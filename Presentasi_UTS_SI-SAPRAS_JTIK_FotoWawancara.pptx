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https://sisapras.jtik.unm.ac.id/portal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KELOMPOK 2 (HCI)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B2777"/>
                </a:solidFill>
                <a:latin typeface="Arial"/>
              </a:defRPr>
            </a:pPr>
            <a:r>
              <a:t>PROPOSAL SEMINAR UTS • DESAIN ANTARMUKA PENGGUNA</a:t>
            </a:r>
          </a:p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SI-SAPRAS JTIK</a:t>
            </a:r>
          </a:p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Rancang Bangun Antarmuka Pengguna Sistem Informasi Peminjaman Sarana Prasarana di JTIK Berbasis Human-Centered Design (HCD)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Tim Pengembang (Kelompok 2 HCI):</a:t>
            </a:r>
            <a:br/>
            <a:r>
              <a:t>• Asyifa Nur Cahya Kamila (250210500014)</a:t>
            </a:r>
            <a:br/>
            <a:r>
              <a:t>• Sitti Aisyah Nur Azizah (250210500030)</a:t>
            </a:r>
            <a:br/>
            <a:r>
              <a:t>• Warnisyah Armin (250210500034)</a:t>
            </a:r>
            <a:br/>
            <a:r>
              <a:t>• Rezky Awalya (250210500043)</a:t>
            </a:r>
          </a:p>
          <a:p>
            <a:br/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Dosen Pengampu: Ayu Lestari, S.Pd., M.Pd.</a:t>
            </a:r>
            <a:br/>
            <a:r>
              <a:t>Jurusan Teknik Informatika dan Komputer - FT UNM (2026)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645920"/>
            <a:ext cx="448056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37360"/>
            <a:ext cx="429768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0" y="4709160"/>
            <a:ext cx="4480560" cy="54864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  <a:latin typeface="Arial"/>
              </a:defRPr>
            </a:pPr>
            <a:r>
              <a:t>📸 Dokumentasi Wawancara W1 di Bengkel IT JTIK FT UNM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https://sisapras.jtik.unm.ac.id/latar-belakang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Latar Belakang &amp; Kondisi Faktual JTIK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Masalah pencatatan buku, sebaran lokasi, dan fenomena kursi ruang kelas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Pencatatan Manual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Peminjaman barang masih banyak dicatat dengan menulis pada buku.</a:t>
            </a:r>
            <a:br/>
            <a:br/>
            <a:r>
              <a:t>[Dampak]:</a:t>
            </a:r>
            <a:br/>
            <a:r>
              <a:t>Informasi jumlah, ketersediaan, dan lokasi barang belum diketahui langsung.</a:t>
            </a:r>
            <a:br/>
            <a:br/>
            <a:r>
              <a:t>[Solusi UI]:</a:t>
            </a:r>
            <a:br/>
            <a:r>
              <a:t>Layanan terpadu digital satu pintu SI-SAPRAS JTIK.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Sebaran Lokasi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Barang berada di beberapa tempat: Bengkel IT, laboratorium, dan ruang admin.</a:t>
            </a:r>
            <a:br/>
            <a:br/>
            <a:r>
              <a:t>[Dampak]:</a:t>
            </a:r>
            <a:br/>
            <a:r>
              <a:t>Pengguna harus mencari atau menanyakan terlebih dahulu, atau mencari sendiri ke lokasi lain.</a:t>
            </a:r>
            <a:br/>
            <a:br/>
            <a:r>
              <a:t>[Solusi UI]:</a:t>
            </a:r>
            <a:br/>
            <a:r>
              <a:t>Informasi visual ketersediaan dan lokasi barang terpusat.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Bangku Ruang Teori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Jumlah kursi di ruang kelas sering tidak mencukupi kebutuhan perkuliahan.</a:t>
            </a:r>
            <a:br/>
            <a:br/>
            <a:r>
              <a:t>[Dampak]:</a:t>
            </a:r>
            <a:br/>
            <a:r>
              <a:t>Pengguna mengambil/meminjam kursi dari kelas lain tanpa pencatatan.</a:t>
            </a:r>
            <a:br/>
            <a:br/>
            <a:r>
              <a:t>[Solusi UI]:</a:t>
            </a:r>
            <a:br/>
            <a:r>
              <a:t>Monitoring kuota kursi ruang kelas &amp; alur lapor mutasi kursi.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https://sisapras.jtik.unm.ac.id/fokus-penelitian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PENYELARASAN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FOKUS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Rumusan Masalah vs. Tujuan Penelitian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Penyelarasan satu-ke-satu antara pertanyaan perancangan dan target capaian luaran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Rumusan Masalah (Pertanyaan Desain)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Kebutuhan Informasi Pengguna:</a:t>
            </a:r>
            <a:br/>
            <a:r>
              <a:t>   Kebutuhan informasi apa yang dimiliki pengguna dalam mengetahui jumlah, ketersediaan, kondisi, dan lokasi sarpras sebelum meminjam?</a:t>
            </a:r>
            <a:br/>
            <a:br/>
            <a:r>
              <a:t>2. Alur Tugas dan Urutan Layar:</a:t>
            </a:r>
            <a:br/>
            <a:r>
              <a:t>   Bagaimana tugas mencari, meminjam, menggunakan, lapor pakai, dan mengembalikan diterjemahkan menjadi urutan layar SI-SAPRAS JTIK?</a:t>
            </a:r>
            <a:br/>
            <a:br/>
            <a:r>
              <a:t>3. Susunan Elemen Antarmuka:</a:t>
            </a:r>
            <a:br/>
            <a:r>
              <a:t>   Bagaimana kebutuhan informasi dan tugas diterjemahkan menjadi susunan antarmuka yang sesuai proses di JTIK?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Tujuan Penelitian (Target Capaian)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Mengidentifikasi Kebutuhan Informasi:</a:t>
            </a:r>
            <a:br/>
            <a:r>
              <a:t>   Mengidentifikasi kebutuhan pengguna terkait jumlah, ketersediaan, kondisi, dan lokasi fisik barang.</a:t>
            </a:r>
            <a:br/>
            <a:br/>
            <a:r>
              <a:t>2. Menyusun Alur Tugas Pengguna:</a:t>
            </a:r>
            <a:br/>
            <a:r>
              <a:t>   Menyusun tugas mencari, meminjam, menggunakan, lapor pakai, dan mengembalikan menjadi alur layar SI-SAPRAS JTIK.</a:t>
            </a:r>
            <a:br/>
            <a:br/>
            <a:r>
              <a:t>3. Menghasilkan Rancangan Antarmuka:</a:t>
            </a:r>
            <a:br/>
            <a:r>
              <a:t>   Menghasilkan rancangan susunan informasi dan elemen antarmuka yang sesuai dengan proses peminjaman di JTIK.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https://sisapras.jtik.unm.ac.id/ruang-lingkup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BATASAN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RUANG LINGKUP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Batasan dan Ruang Lingkup Perancangan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Penetapan batas tegas tugas utama yang dirancang vs. fitur yang ditunda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Tugas Utama Dirancang (In-Scope)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Mencari informasi barang, jumlah, dan ketersediaan stok.</a:t>
            </a:r>
            <a:br/>
            <a:br/>
            <a:r>
              <a:t>• Mengetahui lokasi barang di Bengkel IT, Lab, dan Ruang Admin.</a:t>
            </a:r>
            <a:br/>
            <a:br/>
            <a:r>
              <a:t>• Alur pengajuan peminjaman, pelaporan penggunaan, dan pengembalian.</a:t>
            </a:r>
            <a:br/>
            <a:br/>
            <a:r>
              <a:t>• Informasi inventaris yang berkaitan dengan proses tersebut.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Fitur yang Ditunda (Out-of-Scope)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Dashboard perekaman aktivitas laboratorium otomatis.</a:t>
            </a:r>
            <a:br/>
            <a:br/>
            <a:r>
              <a:t>• Sensor penggunaan listrik di laboratorium.</a:t>
            </a:r>
            <a:br/>
            <a:br/>
            <a:r>
              <a:t>• Unit usaha untuk penyewaan barang komersial.</a:t>
            </a:r>
            <a:br/>
            <a:br/>
            <a:r>
              <a:t>• Pembuatan kode program, basis data, dan implementasi sistem langsung.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https://sisapras.jtik.unm.ac.id/teori-dasar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TINJAUAN PUSTAKA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Desain Antarmuka Pengguna vs. IMK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Hubungan wujud visual di layar dengan payung keilmuan interaksi manusia-komputer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Desain Antarmuka Pengguna (UI)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Rujukan:</a:t>
            </a:r>
            <a:br/>
            <a:r>
              <a:t>Auliazmi et al. (2021); Lastiansah (2012)</a:t>
            </a:r>
            <a:br/>
            <a:br/>
            <a:r>
              <a:t>• Hakikat Konsep:</a:t>
            </a:r>
            <a:br/>
            <a:r>
              <a:t>Sarana dialog dan interaksi antara manusia dengan komputer agar informasi disajikan secara mudah, menarik, dan komunikatif.</a:t>
            </a:r>
            <a:br/>
            <a:br/>
            <a:r>
              <a:t>• Komponen Layar:</a:t>
            </a:r>
            <a:br/>
            <a:r>
              <a:t>Semua hal yang terlihat di layar: tombol, formulir isian, status barang, dan navigasi menu.</a:t>
            </a:r>
            <a:br/>
            <a:br/>
            <a:r>
              <a:t>• Batasan Perancangan:</a:t>
            </a:r>
            <a:br/>
            <a:r>
              <a:t>Dibatasi pada tampilan visual dan susunan informasi (tidak mencakup backend atau koding).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Interaksi Manusia–Komputer (IMK)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Perbedaan dengan UI:</a:t>
            </a:r>
            <a:br/>
            <a:r>
              <a:t>IMK mencakup seluruh aspek hubungan antara manusia dan teknologi secara luas, termasuk kebiasaan dan cara berpikir pengguna.</a:t>
            </a:r>
            <a:br/>
            <a:br/>
            <a:r>
              <a:t>• Peran Desain UI:</a:t>
            </a:r>
            <a:br/>
            <a:r>
              <a:t>Desain antarmuka pengguna merupakan wujud nyata dari tampilan layar tempat interaksi manusia-komputer tersebut terjadi.</a:t>
            </a:r>
            <a:br/>
            <a:br/>
            <a:r>
              <a:t>• Penerapan pada SI-SAPRAS JTIK:</a:t>
            </a:r>
            <a:br/>
            <a:r>
              <a:t>Menyusun tampilan pencarian alat, pemetaan lokasi barang, dan alur peminjaman agar mudah dipahami pengguna.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https://sisapras.jtik.unm.ac.id/metode-hcd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ISO 9241-210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PENDEKATAN DESAIN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Perancangan Berpusat pada Manusia (Human-Centered Design / HCD)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Standar ISO 9241-210 (Wiryawan, 2011) dan 4 butir konteks penggunaan faktual di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2542032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Pengguna (Users)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Mahasiswa yang mencari &amp; meminjam barang, Ketua Tingkat yang melapor peminjaman bangku, teknisi lab inventaris.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011680"/>
            <a:ext cx="2542032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Tugas (Tasks)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Mengecek ketersediaan alat, mengisi formulir peminjaman, melapor mutasi bangku kelas, konfirmasi pengembalian.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2011680"/>
            <a:ext cx="2542032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Peralatan (Equipment)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Telepon pintar (smartphone) milik mahasiswa dan komputer meja (desktop PC) milik teknisi/pengelola 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011680"/>
            <a:ext cx="2542032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4. Lingkungan (Environment)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Ruang kelas yang mendesak sebelum jam kuliah dimulai serta kondisi fisik laboratorium dan Bengkel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https://sisapras.jtik.unm.ac.id/struktur-tugas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HTA &amp;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STRUKTUR TUGAS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Hierarchical Task Analysis (HTA) &amp; User Flow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Dekomposisi tugas terstruktur dan alur perpindahan antarmuka (Dix et al., 2004)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Hierarchical Task Analysis (HTA)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4 Unsur Pokok HTA:</a:t>
            </a:r>
            <a:br/>
            <a:r>
              <a:t>  1. Goal (Indeks 0): Meminjam sarana praktikum laboratorium.</a:t>
            </a:r>
            <a:br/>
            <a:r>
              <a:t>  2. Sub-goals: 1. Cari ketersediaan, 2. Pilih lokasi, 3. Isi formulir.</a:t>
            </a:r>
            <a:br/>
            <a:r>
              <a:t>  3. Operations: Ketik nama barang pada pencarian, klik simpan.</a:t>
            </a:r>
            <a:br/>
            <a:r>
              <a:t>  4. Plan: Aturan urutan logis langkah yang dijalankan.</a:t>
            </a:r>
            <a:br/>
            <a:br/>
            <a:r>
              <a:t>• Stopping Rule (Aturan Berhenti):</a:t>
            </a:r>
            <a:br/>
            <a:r>
              <a:t>  Berhenti saat langkah sudah sederhana di layar tunggal. Ditandai garis tebal di bawah kotak (kedalaman maks 3 tingkat).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Alur Pengguna (User Flow)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Peran pada SI-SAPRAS JTIK:</a:t>
            </a:r>
            <a:br/>
            <a:r>
              <a:t>  HTA digunakan untuk memetakan tugas utama pengguna.</a:t>
            </a:r>
            <a:br/>
            <a:br/>
            <a:r>
              <a:t>• Penerapan Alur Layar:</a:t>
            </a:r>
            <a:br/>
            <a:r>
              <a:t>  Urutan kegiatan peminjaman alat laboratorium di 3 ruangan serta pelaporan mutasi bangku kelas diatur secara jelas sebelum diwujudkan ke bentuk alur antarmuka (User Flow).</a:t>
            </a:r>
            <a:br/>
            <a:br/>
            <a:r>
              <a:t>• Sinergi Desain:</a:t>
            </a:r>
            <a:br/>
            <a:r>
              <a:t>  HTA menyusun pohon hierarki tugas, User Flow mewujudkan alur perpindahan visual antarlayar.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https://sisapras.jtik.unm.ac.id/penelitian-terdahulu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5 JURNAL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KAJIAN LITERATUR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5 Kajian Antarmuka Relevan (State of the Art)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Rujukan penelitian terdahulu yang mendasari perancangan SI-SAPRAS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73152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8483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1. Caylen Marli &amp; Indah Lestari (2025)  ➔  Facility Management System PCR. Segmentasi clustering manual, evaluasi SUS (77) &amp; UEQ.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34640"/>
            <a:ext cx="10515600" cy="73152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0779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2. Cepeda &amp; Saludes (2025)  ➔  ICT Equipment Borrowing SPUP Filipina. Agile Scrum, ISO 25010 &amp; TAM, rekomendasi responsivitas seluler.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10515600" cy="7315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3075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3. Setya Hadi Nugroho &amp; Waris Marsisno (2025)  ➔  Peminjaman Barang &amp; Ruang Polstat STIS. SDLC Prototyping, pengujian Black Box &amp; survei PSSUQ.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480560"/>
            <a:ext cx="10515600" cy="73152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5371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4. Waliadi Gunawan, Abdul Ghofur, dkk. (2025)  ➔  Monitoring Alat Lab Akbid Bina Husada. Waterfall, PHP &amp; MySQL, kendala padam listrik/offline.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03520"/>
            <a:ext cx="10515600" cy="73152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7667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5. Dimas Jayadi &amp; Ucuk Darusalam (2022)  ➔  Sistem Peminjaman Alat Lab Android. FAST Framework &amp; Firebase, untuk asisten lab Computer Vision.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https://sisapras.jtik.unm.ac.id/metodologi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Pendekatan Perancangan, Teknik, &amp; Narasumber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Pengumpulan data empiris melalui wawancara mendalam di Bengkel IT JTIK FT UNM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Pendekatan Desain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Metode:</a:t>
            </a:r>
            <a:br/>
            <a:r>
              <a:t>Human-Centered Design (HCD).</a:t>
            </a:r>
            <a:br/>
            <a:br/>
            <a:r>
              <a:t>• Alasan Pemilihan:</a:t>
            </a:r>
            <a:br/>
            <a:r>
              <a:t>Berangkat dari masalah nyata di JTIK agar rancangan antarmuka didasarkan pada kebutuhan empiris pengguna.</a:t>
            </a:r>
            <a:br/>
            <a:br/>
            <a:r>
              <a:t>• Fokus Proposal UTS:</a:t>
            </a:r>
            <a:br/>
            <a:r>
              <a:t>Pengumpulan data wawancara, analisis kebutuhan, penyusunan HTA &amp; User Flow, serta perancangan antarmuka.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Teknik Pengumpulan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Wawancara Mendalam</a:t>
            </a:r>
            <a:br/>
            <a:br/>
            <a:r>
              <a:t>• Wawancara Mendalam:</a:t>
            </a:r>
            <a:br/>
            <a:r>
              <a:t>Menggali alur pengelolaan, kendala pencatatan buku konvensional, sebaran alat laboratorium, dan kebutuhan bukti bebas pinjam.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Narasumber (W1)</a:t>
            </a:r>
          </a:p>
          <a:p>
            <a:br/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Kode: W1 (Kepala Lab)</a:t>
            </a:r>
            <a:br/>
            <a:r>
              <a:t>• Metode: Wawancara Mendalam</a:t>
            </a:r>
            <a:br/>
            <a:r>
              <a:t>• Lokasi: Bengkel IT JTIK FT UNM</a:t>
            </a:r>
            <a:br/>
            <a:r>
              <a:t>• Tanggal: 6 Oktober 2026</a:t>
            </a:r>
            <a:br/>
            <a:r>
              <a:t>• Etika: Persetujuan &amp; Penyamaran W1</a:t>
            </a:r>
          </a:p>
        </p:txBody>
      </p:sp>
      <p:pic>
        <p:nvPicPr>
          <p:cNvPr id="17" name="Picture 16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4343400"/>
            <a:ext cx="3054096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https://sisapras.jtik.unm.ac.id/instrumen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INSTRUMEN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INSTRUMEN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3.4 Instrumen Pengumpulan Data Wawancara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Lima butir pertanyaan wawancara mendalam dengan Kepala Laboratorium (W1)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Lima Pertanyaan Pokok Pedoman Wawancara: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Pendataan Inventaris:</a:t>
            </a:r>
            <a:br/>
            <a:r>
              <a:t>   Bagaimana proses pengecekan dan pendataan alat serta bahan yang menjadi inventaris laboratorium saat ini?</a:t>
            </a:r>
            <a:br/>
            <a:br/>
            <a:r>
              <a:t>2. Lokasi Penyimpanan Barang:</a:t>
            </a:r>
            <a:br/>
            <a:r>
              <a:t>   Bagaimana cara mengetahui lokasi penyimpanan setiap barang atau alat yang ada di laboratorium?</a:t>
            </a:r>
            <a:br/>
            <a:br/>
            <a:r>
              <a:t>3. Bukti Penggunaan Alat:</a:t>
            </a:r>
            <a:br/>
            <a:r>
              <a:t>   Bagaimana proses pencatatan atau pemberian bukti penggunaan alat dan bahan setelah digunakan oleh pengguna?</a:t>
            </a:r>
            <a:br/>
            <a:br/>
            <a:r>
              <a:t>4. Pelaporan Penggunaan:</a:t>
            </a:r>
            <a:br/>
            <a:r>
              <a:t>   Bagaimana proses pelaporan penggunaan alat dilakukan setelah peminjaman selesai?</a:t>
            </a:r>
            <a:br/>
            <a:br/>
            <a:r>
              <a:t>5. Bukti Bebas Peminjaman:</a:t>
            </a:r>
            <a:br/>
            <a:r>
              <a:t>   Bagaimana proses penerbitan atau pencetakan bukti bebas peminjaman alat saat ini?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https://sisapras.jtik.unm.ac.id/closing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PENUTUP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PENUTUP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Sesi Tanya Jawab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Teknik Analisis Data (Deskriptif)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1. Telaah Catatan Wawancara:</a:t>
            </a:r>
            <a:br/>
            <a:r>
              <a:t>  Informasi dikelompokkan berdasarkan permasalahan, aktivitas, dan proses pengelolaan serta peminjaman sarpras.</a:t>
            </a:r>
            <a:br/>
            <a:br/>
            <a:r>
              <a:t>• 2. Perumusan Kebutuhan Pengguna:</a:t>
            </a:r>
            <a:br/>
            <a:r>
              <a:t>  Temuan tidak langsung dituliskan sebagai fitur, tetapi dirumuskan berdasarkan apa yang perlu diketahui/dilakukan pengguna beserta alasannya.</a:t>
            </a:r>
            <a:br/>
            <a:br/>
            <a:r>
              <a:t>• 3. Skala Prioritas:</a:t>
            </a:r>
            <a:br/>
            <a:r>
              <a:t>  Diprioritaskan berdasarkan frekuensi kemunculan dalam wawancara dan dampak yang terjadi jika tidak terpenuhi.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Terima Kasih!</a:t>
            </a:r>
          </a:p>
          <a:p>
            <a:br/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Sesi Diskusi, Masukan, dan Tanya Jawab</a:t>
            </a:r>
            <a:br/>
            <a:br/>
            <a:r>
              <a:t>Kelompok 2 (HCI) — Program Studi Teknik Komputer</a:t>
            </a:r>
            <a:br/>
            <a:r>
              <a:t>Jurusan Teknik Informatika dan Komputer (JTIK)</a:t>
            </a:r>
            <a:br/>
            <a:r>
              <a:t>Universitas Negeri Makassar (2026)</a:t>
            </a:r>
            <a:br/>
            <a:br/>
            <a:r>
              <a:t>Dosen Pengampu: Ayu Lestari, S.Pd., M.Pd.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